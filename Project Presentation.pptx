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Inter Light"/>
      <p:regular r:id="rId11"/>
      <p:bold r:id="rId12"/>
      <p:italic r:id="rId13"/>
      <p:boldItalic r:id="rId14"/>
    </p:embeddedFon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Inter ExtraBold"/>
      <p:bold r:id="rId23"/>
      <p:boldItalic r:id="rId24"/>
    </p:embeddedFont>
    <p:embeddedFont>
      <p:font typeface="Inter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InterExtraBold-boldItalic.fntdata"/><Relationship Id="rId23" Type="http://schemas.openxmlformats.org/officeDocument/2006/relationships/font" Target="fonts/Inter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bold.fntdata"/><Relationship Id="rId25" Type="http://schemas.openxmlformats.org/officeDocument/2006/relationships/font" Target="fonts/InterMedium-regular.fntdata"/><Relationship Id="rId28" Type="http://schemas.openxmlformats.org/officeDocument/2006/relationships/font" Target="fonts/InterMedium-boldItalic.fntdata"/><Relationship Id="rId27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InterLight-regular.fntdata"/><Relationship Id="rId10" Type="http://schemas.openxmlformats.org/officeDocument/2006/relationships/slide" Target="slides/slide5.xml"/><Relationship Id="rId13" Type="http://schemas.openxmlformats.org/officeDocument/2006/relationships/font" Target="fonts/InterLight-italic.fntdata"/><Relationship Id="rId12" Type="http://schemas.openxmlformats.org/officeDocument/2006/relationships/font" Target="fonts/InterLight-bold.fntdata"/><Relationship Id="rId15" Type="http://schemas.openxmlformats.org/officeDocument/2006/relationships/font" Target="fonts/InterSemiBold-regular.fntdata"/><Relationship Id="rId14" Type="http://schemas.openxmlformats.org/officeDocument/2006/relationships/font" Target="fonts/InterLight-boldItalic.fntdata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Inter-regular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bcb005ab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bcb005ab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LUF posits that employment status exists on a continuum of economic hardship, which includes "economically inadequate employment" resulting from insufficient work hours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bcb005ab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bcb005ab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bcb005abd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bcb005abd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bcb005abd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bcb005abd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0" y="0"/>
            <a:ext cx="4286400" cy="5143500"/>
            <a:chOff x="0" y="0"/>
            <a:chExt cx="4286400" cy="5143500"/>
          </a:xfrm>
        </p:grpSpPr>
        <p:sp>
          <p:nvSpPr>
            <p:cNvPr id="55" name="Google Shape;55;p13"/>
            <p:cNvSpPr/>
            <p:nvPr/>
          </p:nvSpPr>
          <p:spPr>
            <a:xfrm>
              <a:off x="0" y="0"/>
              <a:ext cx="3810000" cy="51435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6" name="Google Shape;56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0" y="0"/>
              <a:ext cx="476400" cy="5138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6725" y="1133475"/>
              <a:ext cx="2876700" cy="287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47738" y="1614488"/>
              <a:ext cx="1914600" cy="1914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13"/>
          <p:cNvSpPr txBox="1"/>
          <p:nvPr/>
        </p:nvSpPr>
        <p:spPr>
          <a:xfrm>
            <a:off x="571500" y="1333500"/>
            <a:ext cx="32385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Beyond the One-Hour Standard</a:t>
            </a:r>
            <a:endParaRPr b="0" sz="42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Research Presentation</a:t>
            </a:r>
            <a:endParaRPr b="0" sz="14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60" name="Google Shape;60;p13"/>
          <p:cNvGrpSpPr/>
          <p:nvPr/>
        </p:nvGrpSpPr>
        <p:grpSpPr>
          <a:xfrm>
            <a:off x="4381500" y="1524000"/>
            <a:ext cx="4191000" cy="2095500"/>
            <a:chOff x="4381500" y="1524000"/>
            <a:chExt cx="4191000" cy="2095500"/>
          </a:xfrm>
        </p:grpSpPr>
        <p:sp>
          <p:nvSpPr>
            <p:cNvPr id="61" name="Google Shape;61;p13"/>
            <p:cNvSpPr/>
            <p:nvPr/>
          </p:nvSpPr>
          <p:spPr>
            <a:xfrm>
              <a:off x="4381500" y="1524000"/>
              <a:ext cx="4191000" cy="2095500"/>
            </a:xfrm>
            <a:prstGeom prst="roundRect">
              <a:avLst>
                <a:gd fmla="val 545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4762500" y="1809750"/>
              <a:ext cx="3429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E2E8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Using </a:t>
              </a:r>
              <a:r>
                <a:rPr b="0" lang="en" sz="22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Digital Trace Data</a:t>
              </a:r>
              <a:r>
                <a:rPr b="0" lang="en" sz="2200">
                  <a:solidFill>
                    <a:srgbClr val="E2E8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to Reconstruct Nigeria's Discontinued Unemployment Series</a:t>
              </a:r>
              <a:endParaRPr b="0" sz="2200">
                <a:solidFill>
                  <a:srgbClr val="E2E8F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sp>
        <p:nvSpPr>
          <p:cNvPr id="63" name="Google Shape;63;p13"/>
          <p:cNvSpPr txBox="1"/>
          <p:nvPr/>
        </p:nvSpPr>
        <p:spPr>
          <a:xfrm>
            <a:off x="571500" y="457200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BLESSING OLUDELE</a:t>
            </a:r>
            <a:endParaRPr sz="10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4"/>
          <p:cNvGrpSpPr/>
          <p:nvPr/>
        </p:nvGrpSpPr>
        <p:grpSpPr>
          <a:xfrm>
            <a:off x="571500" y="381000"/>
            <a:ext cx="8001000" cy="657225"/>
            <a:chOff x="571500" y="381000"/>
            <a:chExt cx="8001000" cy="657225"/>
          </a:xfrm>
        </p:grpSpPr>
        <p:sp>
          <p:nvSpPr>
            <p:cNvPr id="69" name="Google Shape;69;p14"/>
            <p:cNvSpPr txBox="1"/>
            <p:nvPr/>
          </p:nvSpPr>
          <p:spPr>
            <a:xfrm>
              <a:off x="571500" y="38100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96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Problem: Numerical vs. Actual Reality</a:t>
              </a:r>
              <a:endParaRPr b="0" sz="296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571500" y="1000125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571500" y="1333500"/>
            <a:ext cx="8001000" cy="952500"/>
            <a:chOff x="571500" y="1333500"/>
            <a:chExt cx="8001000" cy="952500"/>
          </a:xfrm>
        </p:grpSpPr>
        <p:sp>
          <p:nvSpPr>
            <p:cNvPr id="72" name="Google Shape;72;p14"/>
            <p:cNvSpPr/>
            <p:nvPr/>
          </p:nvSpPr>
          <p:spPr>
            <a:xfrm>
              <a:off x="571500" y="1333500"/>
              <a:ext cx="80010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762000" y="1463802"/>
              <a:ext cx="38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1238250" y="1428750"/>
              <a:ext cx="7143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E2E8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The 2023 shift to a </a:t>
              </a:r>
              <a:r>
                <a:rPr b="1" lang="en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1-hour employment standard</a:t>
              </a:r>
              <a:r>
                <a:rPr b="0" lang="en" sz="1400">
                  <a:solidFill>
                    <a:srgbClr val="E2E8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created a "numerical reality" that masks true underemployment and informal labor distress in Nigeria.</a:t>
              </a:r>
              <a:endParaRPr b="0" sz="1400">
                <a:solidFill>
                  <a:srgbClr val="E2E8F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571500" y="2476500"/>
            <a:ext cx="3857700" cy="1714500"/>
            <a:chOff x="571500" y="2476500"/>
            <a:chExt cx="3857700" cy="1714500"/>
          </a:xfrm>
        </p:grpSpPr>
        <p:sp>
          <p:nvSpPr>
            <p:cNvPr id="76" name="Google Shape;76;p14"/>
            <p:cNvSpPr/>
            <p:nvPr/>
          </p:nvSpPr>
          <p:spPr>
            <a:xfrm>
              <a:off x="571500" y="2476500"/>
              <a:ext cx="3857700" cy="17145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762000" y="2619375"/>
              <a:ext cx="347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Core Concepts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762000" y="2952750"/>
              <a:ext cx="34767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400"/>
                <a:buFont typeface="Inter"/>
                <a:buChar char="●"/>
              </a:pPr>
              <a:r>
                <a:rPr lang="en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Labor Utilization Framework </a:t>
              </a:r>
              <a:endParaRPr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F8FAFC"/>
                </a:buClr>
                <a:buSzPts val="1400"/>
                <a:buFont typeface="Inter"/>
                <a:buChar char="●"/>
              </a:pPr>
              <a:r>
                <a:rPr lang="en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Digital Trace Theory</a:t>
              </a:r>
              <a:endParaRPr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F8FAFC"/>
                </a:buClr>
                <a:buSzPts val="1400"/>
                <a:buFont typeface="Inter Medium"/>
                <a:buChar char="●"/>
              </a:pPr>
              <a:r>
                <a:rPr lang="en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Job Search Theory</a:t>
              </a:r>
              <a:endParaRPr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79" name="Google Shape;79;p14"/>
          <p:cNvGrpSpPr/>
          <p:nvPr/>
        </p:nvGrpSpPr>
        <p:grpSpPr>
          <a:xfrm>
            <a:off x="4714875" y="2476500"/>
            <a:ext cx="3857700" cy="1714500"/>
            <a:chOff x="4714875" y="2476500"/>
            <a:chExt cx="3857700" cy="1714500"/>
          </a:xfrm>
        </p:grpSpPr>
        <p:sp>
          <p:nvSpPr>
            <p:cNvPr id="80" name="Google Shape;80;p14"/>
            <p:cNvSpPr/>
            <p:nvPr/>
          </p:nvSpPr>
          <p:spPr>
            <a:xfrm>
              <a:off x="4714875" y="2476500"/>
              <a:ext cx="3857700" cy="17145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4905375" y="2619375"/>
              <a:ext cx="347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Core Concept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4905375" y="2952750"/>
              <a:ext cx="34767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Utilizing </a:t>
              </a:r>
              <a:r>
                <a:rPr b="0" lang="en" sz="130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"unconscious disclosure"</a:t>
              </a:r>
              <a:r>
                <a:rPr b="0" lang="en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from digital trace data as a revealed preference of actual job-seeking effort.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3" name="Google Shape;83;p14"/>
          <p:cNvSpPr txBox="1"/>
          <p:nvPr/>
        </p:nvSpPr>
        <p:spPr>
          <a:xfrm>
            <a:off x="571500" y="466725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BLESSING OLUDELE | RESEARCH PRESENTATION</a:t>
            </a:r>
            <a:endParaRPr b="0" sz="9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5"/>
          <p:cNvGrpSpPr/>
          <p:nvPr/>
        </p:nvGrpSpPr>
        <p:grpSpPr>
          <a:xfrm>
            <a:off x="571500" y="381000"/>
            <a:ext cx="8001000" cy="657225"/>
            <a:chOff x="571500" y="381000"/>
            <a:chExt cx="8001000" cy="657225"/>
          </a:xfrm>
        </p:grpSpPr>
        <p:sp>
          <p:nvSpPr>
            <p:cNvPr id="89" name="Google Shape;89;p15"/>
            <p:cNvSpPr/>
            <p:nvPr/>
          </p:nvSpPr>
          <p:spPr>
            <a:xfrm>
              <a:off x="571500" y="38100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 txBox="1"/>
            <p:nvPr/>
          </p:nvSpPr>
          <p:spPr>
            <a:xfrm>
              <a:off x="571500" y="38100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0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Research Question</a:t>
              </a:r>
              <a:endParaRPr b="0" sz="30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571500" y="1000125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" name="Google Shape;92;p15"/>
          <p:cNvGrpSpPr/>
          <p:nvPr/>
        </p:nvGrpSpPr>
        <p:grpSpPr>
          <a:xfrm>
            <a:off x="571500" y="1333500"/>
            <a:ext cx="8001000" cy="2857500"/>
            <a:chOff x="571500" y="1333500"/>
            <a:chExt cx="8001000" cy="2857500"/>
          </a:xfrm>
        </p:grpSpPr>
        <p:sp>
          <p:nvSpPr>
            <p:cNvPr id="93" name="Google Shape;93;p15"/>
            <p:cNvSpPr/>
            <p:nvPr/>
          </p:nvSpPr>
          <p:spPr>
            <a:xfrm>
              <a:off x="571500" y="1333500"/>
              <a:ext cx="8001000" cy="28575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952500" y="16776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7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help_outline</a:t>
              </a:r>
              <a:endParaRPr sz="37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5" name="Google Shape;95;p15"/>
            <p:cNvSpPr txBox="1"/>
            <p:nvPr/>
          </p:nvSpPr>
          <p:spPr>
            <a:xfrm>
              <a:off x="1714500" y="1619250"/>
              <a:ext cx="6477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E2E8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Does </a:t>
              </a:r>
              <a:r>
                <a:rPr b="0" lang="en" sz="24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high-frequency digital trace data</a:t>
              </a:r>
              <a:r>
                <a:rPr b="0" lang="en" sz="2400">
                  <a:solidFill>
                    <a:srgbClr val="E2E8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possess the predictive power required to reliably reconstruct the discontinued </a:t>
              </a:r>
              <a:r>
                <a:rPr b="0" lang="en" sz="240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40-hour unemployment series</a:t>
              </a:r>
              <a:r>
                <a:rPr b="0" lang="en" sz="2400">
                  <a:solidFill>
                    <a:srgbClr val="E2E8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in Nigeria?</a:t>
              </a:r>
              <a:endParaRPr b="0" sz="2400">
                <a:solidFill>
                  <a:srgbClr val="E2E8F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96" name="Google Shape;96;p15"/>
          <p:cNvGrpSpPr/>
          <p:nvPr/>
        </p:nvGrpSpPr>
        <p:grpSpPr>
          <a:xfrm>
            <a:off x="571500" y="4667250"/>
            <a:ext cx="8001000" cy="285900"/>
            <a:chOff x="571500" y="4667250"/>
            <a:chExt cx="8001000" cy="285900"/>
          </a:xfrm>
        </p:grpSpPr>
        <p:sp>
          <p:nvSpPr>
            <p:cNvPr id="97" name="Google Shape;97;p15"/>
            <p:cNvSpPr/>
            <p:nvPr/>
          </p:nvSpPr>
          <p:spPr>
            <a:xfrm>
              <a:off x="571500" y="4667250"/>
              <a:ext cx="800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571500" y="466725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BLESSING OLUDELE | RESEARCH PRESENTATION</a:t>
              </a:r>
              <a:endParaRPr b="0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16"/>
          <p:cNvGrpSpPr/>
          <p:nvPr/>
        </p:nvGrpSpPr>
        <p:grpSpPr>
          <a:xfrm>
            <a:off x="571500" y="381000"/>
            <a:ext cx="8001000" cy="657225"/>
            <a:chOff x="571500" y="381000"/>
            <a:chExt cx="8001000" cy="657225"/>
          </a:xfrm>
        </p:grpSpPr>
        <p:sp>
          <p:nvSpPr>
            <p:cNvPr id="104" name="Google Shape;104;p16"/>
            <p:cNvSpPr/>
            <p:nvPr/>
          </p:nvSpPr>
          <p:spPr>
            <a:xfrm>
              <a:off x="571500" y="38100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571500" y="38100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0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Methodological Framework</a:t>
              </a:r>
              <a:endParaRPr b="0" sz="30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571500" y="1000125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" name="Google Shape;107;p16"/>
          <p:cNvGrpSpPr/>
          <p:nvPr/>
        </p:nvGrpSpPr>
        <p:grpSpPr>
          <a:xfrm>
            <a:off x="571500" y="1238250"/>
            <a:ext cx="8001000" cy="987552"/>
            <a:chOff x="571500" y="1238250"/>
            <a:chExt cx="8001000" cy="987552"/>
          </a:xfrm>
        </p:grpSpPr>
        <p:sp>
          <p:nvSpPr>
            <p:cNvPr id="108" name="Google Shape;108;p16"/>
            <p:cNvSpPr/>
            <p:nvPr/>
          </p:nvSpPr>
          <p:spPr>
            <a:xfrm>
              <a:off x="571500" y="1238250"/>
              <a:ext cx="80010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762000" y="1273302"/>
              <a:ext cx="38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track_changes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1238250" y="1238250"/>
              <a:ext cx="7143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Objective:</a:t>
              </a:r>
              <a:r>
                <a:rPr b="0" lang="en" sz="14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To empirically reconstruct the discontinued 40-hour unemployment baseline across the 2023 institutional rupture.</a:t>
              </a:r>
              <a:endParaRPr b="0" sz="14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1" name="Google Shape;111;p16"/>
          <p:cNvGrpSpPr/>
          <p:nvPr/>
        </p:nvGrpSpPr>
        <p:grpSpPr>
          <a:xfrm>
            <a:off x="571500" y="2381250"/>
            <a:ext cx="2476500" cy="2000100"/>
            <a:chOff x="571500" y="2381250"/>
            <a:chExt cx="2476500" cy="2000100"/>
          </a:xfrm>
        </p:grpSpPr>
        <p:sp>
          <p:nvSpPr>
            <p:cNvPr id="112" name="Google Shape;112;p16"/>
            <p:cNvSpPr/>
            <p:nvPr/>
          </p:nvSpPr>
          <p:spPr>
            <a:xfrm>
              <a:off x="571500" y="2381250"/>
              <a:ext cx="2476500" cy="20001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762000" y="2524125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Stage 1: Feature Generation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762000" y="2905125"/>
              <a:ext cx="20955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LLM-driven selection of culturally contextualized keywords (excluding Western welfare terms).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" name="Google Shape;115;p16"/>
          <p:cNvGrpSpPr/>
          <p:nvPr/>
        </p:nvGrpSpPr>
        <p:grpSpPr>
          <a:xfrm>
            <a:off x="3333750" y="2381250"/>
            <a:ext cx="2476500" cy="2000100"/>
            <a:chOff x="3333750" y="2381250"/>
            <a:chExt cx="2476500" cy="2000100"/>
          </a:xfrm>
        </p:grpSpPr>
        <p:sp>
          <p:nvSpPr>
            <p:cNvPr id="116" name="Google Shape;116;p16"/>
            <p:cNvSpPr/>
            <p:nvPr/>
          </p:nvSpPr>
          <p:spPr>
            <a:xfrm>
              <a:off x="3333750" y="2381250"/>
              <a:ext cx="2476500" cy="20001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3524250" y="2524125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Stage 2: Dim. Reduction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3524250" y="2905125"/>
              <a:ext cx="20955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Elastic Net regularization to objectively filter noise and resolve severe multicollinearity.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9" name="Google Shape;119;p16"/>
          <p:cNvGrpSpPr/>
          <p:nvPr/>
        </p:nvGrpSpPr>
        <p:grpSpPr>
          <a:xfrm>
            <a:off x="6096000" y="2381250"/>
            <a:ext cx="2476500" cy="2000100"/>
            <a:chOff x="6096000" y="2381250"/>
            <a:chExt cx="2476500" cy="2000100"/>
          </a:xfrm>
        </p:grpSpPr>
        <p:sp>
          <p:nvSpPr>
            <p:cNvPr id="120" name="Google Shape;120;p16"/>
            <p:cNvSpPr/>
            <p:nvPr/>
          </p:nvSpPr>
          <p:spPr>
            <a:xfrm>
              <a:off x="6096000" y="2381250"/>
              <a:ext cx="2476500" cy="20001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6286500" y="2524125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Stage 3: Reconstruction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6286500" y="2905125"/>
              <a:ext cx="20955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Regularized machine learning (Ridge Regression/XGBoost) combined with temporal splicing.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3" name="Google Shape;123;p16"/>
          <p:cNvSpPr txBox="1"/>
          <p:nvPr/>
        </p:nvSpPr>
        <p:spPr>
          <a:xfrm>
            <a:off x="571500" y="466725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BLESSING OLUDELE | RESEARCH PRESENTATION</a:t>
            </a:r>
            <a:endParaRPr b="0" sz="9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7"/>
          <p:cNvGrpSpPr/>
          <p:nvPr/>
        </p:nvGrpSpPr>
        <p:grpSpPr>
          <a:xfrm>
            <a:off x="571500" y="381000"/>
            <a:ext cx="8001000" cy="657225"/>
            <a:chOff x="571500" y="381000"/>
            <a:chExt cx="8001000" cy="657225"/>
          </a:xfrm>
        </p:grpSpPr>
        <p:sp>
          <p:nvSpPr>
            <p:cNvPr id="129" name="Google Shape;129;p17"/>
            <p:cNvSpPr txBox="1"/>
            <p:nvPr/>
          </p:nvSpPr>
          <p:spPr>
            <a:xfrm>
              <a:off x="571500" y="38100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0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Data &amp; Evaluation Strategy</a:t>
              </a:r>
              <a:endParaRPr b="0" sz="30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571500" y="1000125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" name="Google Shape;131;p17"/>
          <p:cNvGrpSpPr/>
          <p:nvPr/>
        </p:nvGrpSpPr>
        <p:grpSpPr>
          <a:xfrm>
            <a:off x="571500" y="1238250"/>
            <a:ext cx="8001075" cy="1714500"/>
            <a:chOff x="571500" y="1238250"/>
            <a:chExt cx="8001075" cy="1714500"/>
          </a:xfrm>
        </p:grpSpPr>
        <p:grpSp>
          <p:nvGrpSpPr>
            <p:cNvPr id="132" name="Google Shape;132;p17"/>
            <p:cNvGrpSpPr/>
            <p:nvPr/>
          </p:nvGrpSpPr>
          <p:grpSpPr>
            <a:xfrm>
              <a:off x="571500" y="1238250"/>
              <a:ext cx="3857700" cy="1714500"/>
              <a:chOff x="571500" y="1238250"/>
              <a:chExt cx="3857700" cy="1714500"/>
            </a:xfrm>
          </p:grpSpPr>
          <p:sp>
            <p:nvSpPr>
              <p:cNvPr id="133" name="Google Shape;133;p17"/>
              <p:cNvSpPr/>
              <p:nvPr/>
            </p:nvSpPr>
            <p:spPr>
              <a:xfrm>
                <a:off x="571500" y="1238250"/>
                <a:ext cx="38577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7"/>
              <p:cNvSpPr txBox="1"/>
              <p:nvPr/>
            </p:nvSpPr>
            <p:spPr>
              <a:xfrm>
                <a:off x="762000" y="1381125"/>
                <a:ext cx="3476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Target Data (The Anchor)</a:t>
                </a:r>
                <a:endParaRPr b="1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" name="Google Shape;135;p17"/>
              <p:cNvSpPr txBox="1"/>
              <p:nvPr/>
            </p:nvSpPr>
            <p:spPr>
              <a:xfrm>
                <a:off x="762000" y="1714500"/>
                <a:ext cx="34767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E2E8F0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Historical household survey data (2004–2020) from the Nigerian National Bureau of Statistics (NBS), aligned via temporal disaggregation.</a:t>
                </a:r>
                <a:endParaRPr b="0" sz="1300">
                  <a:solidFill>
                    <a:srgbClr val="E2E8F0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  <p:grpSp>
          <p:nvGrpSpPr>
            <p:cNvPr id="136" name="Google Shape;136;p17"/>
            <p:cNvGrpSpPr/>
            <p:nvPr/>
          </p:nvGrpSpPr>
          <p:grpSpPr>
            <a:xfrm>
              <a:off x="4714875" y="1238250"/>
              <a:ext cx="3857700" cy="1714500"/>
              <a:chOff x="4714875" y="1238250"/>
              <a:chExt cx="3857700" cy="1714500"/>
            </a:xfrm>
          </p:grpSpPr>
          <p:sp>
            <p:nvSpPr>
              <p:cNvPr id="137" name="Google Shape;137;p17"/>
              <p:cNvSpPr/>
              <p:nvPr/>
            </p:nvSpPr>
            <p:spPr>
              <a:xfrm>
                <a:off x="4714875" y="1238250"/>
                <a:ext cx="38577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7"/>
              <p:cNvSpPr txBox="1"/>
              <p:nvPr/>
            </p:nvSpPr>
            <p:spPr>
              <a:xfrm>
                <a:off x="4905375" y="1381125"/>
                <a:ext cx="3476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Predictor Data (The Signal)</a:t>
                </a:r>
                <a:endParaRPr b="1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9" name="Google Shape;139;p17"/>
              <p:cNvSpPr txBox="1"/>
              <p:nvPr/>
            </p:nvSpPr>
            <p:spPr>
              <a:xfrm>
                <a:off x="4905375" y="1714500"/>
                <a:ext cx="34767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E2E8F0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High-frequency Google Trends search volumes capturing formal job seeking, survival entrepreneurship, and emigration intent.</a:t>
                </a:r>
                <a:endParaRPr b="0" sz="1300">
                  <a:solidFill>
                    <a:srgbClr val="E2E8F0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</p:grpSp>
      <p:grpSp>
        <p:nvGrpSpPr>
          <p:cNvPr id="140" name="Google Shape;140;p17"/>
          <p:cNvGrpSpPr/>
          <p:nvPr/>
        </p:nvGrpSpPr>
        <p:grpSpPr>
          <a:xfrm>
            <a:off x="571500" y="3238500"/>
            <a:ext cx="8001000" cy="1178052"/>
            <a:chOff x="571500" y="3238500"/>
            <a:chExt cx="8001000" cy="1178052"/>
          </a:xfrm>
        </p:grpSpPr>
        <p:sp>
          <p:nvSpPr>
            <p:cNvPr id="141" name="Google Shape;141;p17"/>
            <p:cNvSpPr/>
            <p:nvPr/>
          </p:nvSpPr>
          <p:spPr>
            <a:xfrm>
              <a:off x="571500" y="3238500"/>
              <a:ext cx="80010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809625" y="3273552"/>
              <a:ext cx="381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143" name="Google Shape;143;p17"/>
            <p:cNvGrpSpPr/>
            <p:nvPr/>
          </p:nvGrpSpPr>
          <p:grpSpPr>
            <a:xfrm>
              <a:off x="1285875" y="3333750"/>
              <a:ext cx="7048500" cy="952650"/>
              <a:chOff x="1285875" y="3333750"/>
              <a:chExt cx="7048500" cy="952650"/>
            </a:xfrm>
          </p:grpSpPr>
          <p:sp>
            <p:nvSpPr>
              <p:cNvPr id="144" name="Google Shape;144;p17"/>
              <p:cNvSpPr txBox="1"/>
              <p:nvPr/>
            </p:nvSpPr>
            <p:spPr>
              <a:xfrm>
                <a:off x="1285875" y="3333750"/>
                <a:ext cx="7048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Evaluation Methodology</a:t>
                </a:r>
                <a:endParaRPr b="1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" name="Google Shape;145;p17"/>
              <p:cNvSpPr txBox="1"/>
              <p:nvPr/>
            </p:nvSpPr>
            <p:spPr>
              <a:xfrm>
                <a:off x="1285875" y="3619500"/>
                <a:ext cx="7048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E2E8F0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Walk-forward validation and Diebold-Mariano testing to prove statistically significant predictive superiority over baseline models.</a:t>
                </a:r>
                <a:endParaRPr b="0" sz="1400">
                  <a:solidFill>
                    <a:srgbClr val="E2E8F0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</p:grpSp>
      <p:sp>
        <p:nvSpPr>
          <p:cNvPr id="146" name="Google Shape;146;p17"/>
          <p:cNvSpPr txBox="1"/>
          <p:nvPr/>
        </p:nvSpPr>
        <p:spPr>
          <a:xfrm>
            <a:off x="571500" y="466725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BLESSING OLUDELE | RESEARCH PRESENTATION</a:t>
            </a:r>
            <a:endParaRPr b="0" sz="9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